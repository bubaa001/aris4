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42" r:id="rId1"/>
  </p:sldMasterIdLst>
  <p:notesMasterIdLst>
    <p:notesMasterId r:id="rId12"/>
  </p:notesMasterIdLst>
  <p:sldIdLst>
    <p:sldId id="256" r:id="rId2"/>
    <p:sldId id="257" r:id="rId3"/>
    <p:sldId id="264" r:id="rId4"/>
    <p:sldId id="288" r:id="rId5"/>
    <p:sldId id="289" r:id="rId6"/>
    <p:sldId id="297" r:id="rId7"/>
    <p:sldId id="290" r:id="rId8"/>
    <p:sldId id="298" r:id="rId9"/>
    <p:sldId id="29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976" autoAdjust="0"/>
  </p:normalViewPr>
  <p:slideViewPr>
    <p:cSldViewPr snapToGrid="0">
      <p:cViewPr varScale="1">
        <p:scale>
          <a:sx n="62" d="100"/>
          <a:sy n="62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17EE6-F0C1-4BC3-9A96-80B85204897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443F6-089A-42C8-8A40-3367043B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21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50B8-79AD-4D2E-8DBF-A31623E2196C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74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DE22-A7B4-47E4-B59D-BA1D214E3B5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443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BEAB-4517-4513-A305-20E8211E08B7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93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F8789-0A0F-47A9-A762-C7A1F7E7A76C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49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7600-B682-447E-B795-3C2A0BDB1B7A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35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174C-FE3B-4CA9-9995-0F997D1324E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34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C00E-43A9-4651-99E8-DC7FDA6C0416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65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EEC0-201D-4340-B037-C7B190A899C3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54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80E1-4226-4E1B-9611-5C5E067E55D4}" type="datetime1">
              <a:rPr lang="en-US" smtClean="0"/>
              <a:t>4/10/2026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007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8E6B-70CF-4CB3-AE55-00014346FA5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960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C303-312F-4287-8485-DE493FF50396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6825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5DD6-8A5D-401A-8260-A08D99A3AE0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109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3D3F-3E0A-4448-816C-51015B07ED7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5175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7B2A-0B61-40EC-B86F-E89A3C5364BB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036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9DA-C772-4DDF-9303-006CF34D6926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804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E2E4-2919-48D7-98D0-760CFC06191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259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F584F-209D-4000-98F8-A968CD730643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Lectured by Mr. Henry Mkama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26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1956-CCF1-43B1-DA3C-98C14AF89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420" y="0"/>
            <a:ext cx="9274003" cy="2292374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IS 042: FOUNDATION OF COMPUTING MATHEMATICS II</a:t>
            </a:r>
            <a:br>
              <a:rPr lang="en-US" sz="4800" dirty="0">
                <a:solidFill>
                  <a:schemeClr val="tx1"/>
                </a:solidFill>
              </a:rPr>
            </a:br>
            <a:r>
              <a:rPr lang="en-US" sz="4800" dirty="0">
                <a:solidFill>
                  <a:schemeClr val="tx1"/>
                </a:solidFill>
              </a:rPr>
              <a:t>LECTURE 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0D2830-4069-4F12-CE3F-441E4162B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2" y="2292374"/>
            <a:ext cx="8215531" cy="41928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354FAF-BB16-C69C-DB7B-5E5A05C90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2" y="0"/>
            <a:ext cx="1952488" cy="99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01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8F4C-5EE5-C103-C3EE-E565B28F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6"/>
            <a:ext cx="8596668" cy="11137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Unit I: Set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44411-73E9-6865-BF26-8B36094D3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5273"/>
            <a:ext cx="10837332" cy="4286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Outline:</a:t>
            </a:r>
          </a:p>
          <a:p>
            <a:r>
              <a:rPr lang="en-US" sz="2400" dirty="0">
                <a:solidFill>
                  <a:schemeClr val="tx1"/>
                </a:solidFill>
              </a:rPr>
              <a:t>Introduction to sets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1CE8-E978-19F0-1162-FAF9DFE4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43208" y="6041361"/>
            <a:ext cx="971458" cy="365125"/>
          </a:xfrm>
        </p:spPr>
        <p:txBody>
          <a:bodyPr/>
          <a:lstStyle/>
          <a:p>
            <a:fld id="{7072C1DE-BDFD-4CA7-A4E5-F50E7CADE0DD}" type="datetime1">
              <a:rPr lang="en-US" sz="1100" smtClean="0">
                <a:solidFill>
                  <a:schemeClr val="tx1"/>
                </a:solidFill>
              </a:rPr>
              <a:t>4/10/2026</a:t>
            </a:fld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CB0B-EC8A-BACF-ED50-921BAA1B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tx1"/>
                </a:solidFill>
              </a:rPr>
              <a:t>Lectured by Mr. Henry Mkama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79EA-6CA7-EF8D-C8D6-8FAE97CB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E690B-02CC-C6BF-4DE3-94AA07FB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2" y="0"/>
            <a:ext cx="1952488" cy="9964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FC09F4-A41A-BC34-30E9-DE5B80053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74"/>
            <a:ext cx="1508760" cy="99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0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8F4C-5EE5-C103-C3EE-E565B28F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32" y="816636"/>
            <a:ext cx="8596668" cy="938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1.1 Introduction to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44411-73E9-6865-BF26-8B36094D3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4243"/>
            <a:ext cx="10837332" cy="455712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any collection of definite, distinguishable objects of our intuition or of our intellect to be conceived as a whole.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well-defined collection of distinct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theory of sets was developed by German Mathematician George Cantor (1845 -1918 A.D.)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objects are called the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Objects, elements and members of a set are synonymous words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are usually denoted by capital letters A, B, C,Y, Z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elements of a set are represented by small letters a, b, c, x, z etc.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1CE8-E978-19F0-1162-FAF9DFE4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50442" y="6041362"/>
            <a:ext cx="1064224" cy="365125"/>
          </a:xfrm>
        </p:spPr>
        <p:txBody>
          <a:bodyPr/>
          <a:lstStyle/>
          <a:p>
            <a:fld id="{7072C1DE-BDFD-4CA7-A4E5-F50E7CADE0DD}" type="datetime1">
              <a:rPr lang="en-US" sz="1100" smtClean="0">
                <a:solidFill>
                  <a:schemeClr val="tx1"/>
                </a:solidFill>
              </a:rPr>
              <a:t>4/10/2026</a:t>
            </a:fld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CB0B-EC8A-BACF-ED50-921BAA1B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tx1"/>
                </a:solidFill>
              </a:rPr>
              <a:t>Lectured by Mr. Henry Mkama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79EA-6CA7-EF8D-C8D6-8FAE97CB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E690B-02CC-C6BF-4DE3-94AA07FB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2" y="0"/>
            <a:ext cx="1952488" cy="996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19B22-2A15-C597-3217-F2C1D347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74"/>
            <a:ext cx="1508760" cy="99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2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8F4C-5EE5-C103-C3EE-E565B28F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32" y="816636"/>
            <a:ext cx="8596668" cy="938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Basis of Intuitive Set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44411-73E9-6865-BF26-8B36094D3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84243"/>
                <a:ext cx="10837332" cy="4557120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notion of membership is a relation between objects and sets. This is symbolized by </a:t>
                </a:r>
                <a14:m>
                  <m:oMath xmlns:m="http://schemas.openxmlformats.org/officeDocument/2006/math">
                    <m:r>
                      <a:rPr lang="el-GR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object x is a member of the set A, its written as</a:t>
                </a:r>
                <a:endParaRPr 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object x is not a member of the set A, its written as</a:t>
                </a:r>
                <a:endParaRPr 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 being a set of natural numbers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P being a set of perfect square numbers, so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2∈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Z,  but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(Z being the set of integers)</a:t>
                </a:r>
              </a:p>
              <a:p>
                <a:pPr marL="514350" indent="-514350">
                  <a:buFont typeface="+mj-lt"/>
                  <a:buAutoNum type="romanLcPeriod"/>
                </a:pPr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44411-73E9-6865-BF26-8B36094D3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84243"/>
                <a:ext cx="10837332" cy="4557120"/>
              </a:xfrm>
              <a:blipFill>
                <a:blip r:embed="rId2"/>
                <a:stretch>
                  <a:fillRect l="-844" t="-1070" r="-1069" b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1CE8-E978-19F0-1162-FAF9DFE4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50442" y="6041362"/>
            <a:ext cx="1064224" cy="365125"/>
          </a:xfrm>
        </p:spPr>
        <p:txBody>
          <a:bodyPr/>
          <a:lstStyle/>
          <a:p>
            <a:fld id="{7072C1DE-BDFD-4CA7-A4E5-F50E7CADE0DD}" type="datetime1">
              <a:rPr lang="en-US" sz="1100" smtClean="0">
                <a:solidFill>
                  <a:schemeClr val="tx1"/>
                </a:solidFill>
              </a:rPr>
              <a:t>4/10/2026</a:t>
            </a:fld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CB0B-EC8A-BACF-ED50-921BAA1B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tx1"/>
                </a:solidFill>
              </a:rPr>
              <a:t>Lectured by Mr. Henry Mkama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79EA-6CA7-EF8D-C8D6-8FAE97CB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E690B-02CC-C6BF-4DE3-94AA07FB7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2" y="0"/>
            <a:ext cx="1952488" cy="996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1D78B-15F8-820E-E9BF-39E5CC21E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74"/>
            <a:ext cx="1508760" cy="99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7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8F4C-5EE5-C103-C3EE-E565B28F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32" y="816636"/>
            <a:ext cx="8596668" cy="938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Representation of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44411-73E9-6865-BF26-8B36094D3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4243"/>
            <a:ext cx="10837332" cy="45571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are generally represented by the following two ways: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Roster or Tabular form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Rule Method or Set builder form</a:t>
            </a:r>
          </a:p>
          <a:p>
            <a:pPr marL="0" indent="0">
              <a:buNone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endParaRPr lang="en-US" sz="2400" dirty="0">
              <a:solidFill>
                <a:schemeClr val="tx1"/>
              </a:solidFill>
              <a:ea typeface="Cambria Math" panose="02040503050406030204" pitchFamily="18" charset="0"/>
            </a:endParaRPr>
          </a:p>
          <a:p>
            <a:pPr marL="514350" indent="-514350">
              <a:buFont typeface="+mj-lt"/>
              <a:buAutoNum type="romanLcPeriod"/>
            </a:pPr>
            <a:endParaRPr lang="en-US" sz="2400" b="0" dirty="0">
              <a:solidFill>
                <a:schemeClr val="tx1"/>
              </a:solidFill>
              <a:ea typeface="Cambria Math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1CE8-E978-19F0-1162-FAF9DFE4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50442" y="6041362"/>
            <a:ext cx="1064224" cy="365125"/>
          </a:xfrm>
        </p:spPr>
        <p:txBody>
          <a:bodyPr/>
          <a:lstStyle/>
          <a:p>
            <a:fld id="{7072C1DE-BDFD-4CA7-A4E5-F50E7CADE0DD}" type="datetime1">
              <a:rPr lang="en-US" sz="1100" smtClean="0">
                <a:solidFill>
                  <a:schemeClr val="tx1"/>
                </a:solidFill>
              </a:rPr>
              <a:t>4/10/2026</a:t>
            </a:fld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CB0B-EC8A-BACF-ED50-921BAA1B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tx1"/>
                </a:solidFill>
              </a:rPr>
              <a:t>Lectured by Mr. Henry Mkama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79EA-6CA7-EF8D-C8D6-8FAE97CB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E690B-02CC-C6BF-4DE3-94AA07FB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2" y="0"/>
            <a:ext cx="1952488" cy="996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910594-3A5B-F4B9-4B63-A2E249B32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74"/>
            <a:ext cx="1508760" cy="99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9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8F4C-5EE5-C103-C3EE-E565B28F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32" y="816636"/>
            <a:ext cx="8596668" cy="938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Representation of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44411-73E9-6865-BF26-8B36094D3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4243"/>
            <a:ext cx="10837332" cy="455712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Roster or Tabular Form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 this form, all the elements of a set are listed, the elements are being separated by commas and are enclosed within braces { }.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E.g.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set of all natural numbers less than 5 is represented as {1, 2, 3, 4}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set of all factors of 50 is {1, 2, 5, 10, 25, 50}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set of all distinct letters in the word FOUNDATION is {F, O, U, N, D, A, T, I}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set of even natural numbers is {2, 4, 6, 8, …} </a:t>
            </a:r>
          </a:p>
          <a:p>
            <a:pPr marL="514350" indent="-514350">
              <a:buFont typeface="+mj-lt"/>
              <a:buAutoNum type="romanLcPeriod"/>
            </a:pPr>
            <a:endParaRPr lang="en-US" sz="2400" dirty="0">
              <a:solidFill>
                <a:schemeClr val="tx1"/>
              </a:solidFill>
              <a:ea typeface="Cambria Math" panose="02040503050406030204" pitchFamily="18" charset="0"/>
            </a:endParaRPr>
          </a:p>
          <a:p>
            <a:pPr marL="514350" indent="-514350">
              <a:buFont typeface="+mj-lt"/>
              <a:buAutoNum type="romanLcPeriod"/>
            </a:pPr>
            <a:endParaRPr lang="en-US" sz="2400" b="0" dirty="0">
              <a:solidFill>
                <a:schemeClr val="tx1"/>
              </a:solidFill>
              <a:ea typeface="Cambria Math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1CE8-E978-19F0-1162-FAF9DFE4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50442" y="6041362"/>
            <a:ext cx="1064224" cy="365125"/>
          </a:xfrm>
        </p:spPr>
        <p:txBody>
          <a:bodyPr/>
          <a:lstStyle/>
          <a:p>
            <a:fld id="{7072C1DE-BDFD-4CA7-A4E5-F50E7CADE0DD}" type="datetime1">
              <a:rPr lang="en-US" sz="1100" smtClean="0">
                <a:solidFill>
                  <a:schemeClr val="tx1"/>
                </a:solidFill>
              </a:rPr>
              <a:t>4/10/2026</a:t>
            </a:fld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CB0B-EC8A-BACF-ED50-921BAA1B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tx1"/>
                </a:solidFill>
              </a:rPr>
              <a:t>Lectured by Mr. Henry Mkama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79EA-6CA7-EF8D-C8D6-8FAE97CB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E690B-02CC-C6BF-4DE3-94AA07FB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2" y="0"/>
            <a:ext cx="1952488" cy="996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910594-3A5B-F4B9-4B63-A2E249B32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74"/>
            <a:ext cx="1508760" cy="99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7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8F4C-5EE5-C103-C3EE-E565B28F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32" y="816636"/>
            <a:ext cx="8596668" cy="938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Representation of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44411-73E9-6865-BF26-8B36094D3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4243"/>
            <a:ext cx="10837332" cy="45571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 a set notation, order is not important. Hence, example (ii) can also be written as {5, 1, 10, 2, 20, 25}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elements of a set are generally not repeated in a particular set as in example (iii)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dots in example (iv) reveal that the list is endless (continued)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ea typeface="Cambria Math" panose="02040503050406030204" pitchFamily="18" charset="0"/>
            </a:endParaRPr>
          </a:p>
          <a:p>
            <a:pPr marL="514350" indent="-514350">
              <a:buFont typeface="+mj-lt"/>
              <a:buAutoNum type="romanLcPeriod"/>
            </a:pPr>
            <a:endParaRPr lang="en-US" sz="2400" dirty="0">
              <a:solidFill>
                <a:schemeClr val="tx1"/>
              </a:solidFill>
              <a:ea typeface="Cambria Math" panose="02040503050406030204" pitchFamily="18" charset="0"/>
            </a:endParaRPr>
          </a:p>
          <a:p>
            <a:pPr marL="514350" indent="-514350">
              <a:buFont typeface="+mj-lt"/>
              <a:buAutoNum type="romanLcPeriod"/>
            </a:pPr>
            <a:endParaRPr lang="en-US" sz="2400" b="0" dirty="0">
              <a:solidFill>
                <a:schemeClr val="tx1"/>
              </a:solidFill>
              <a:ea typeface="Cambria Math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1CE8-E978-19F0-1162-FAF9DFE4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50442" y="6041362"/>
            <a:ext cx="1064224" cy="365125"/>
          </a:xfrm>
        </p:spPr>
        <p:txBody>
          <a:bodyPr/>
          <a:lstStyle/>
          <a:p>
            <a:fld id="{7072C1DE-BDFD-4CA7-A4E5-F50E7CADE0DD}" type="datetime1">
              <a:rPr lang="en-US" sz="1100" smtClean="0">
                <a:solidFill>
                  <a:schemeClr val="tx1"/>
                </a:solidFill>
              </a:rPr>
              <a:t>4/10/2026</a:t>
            </a:fld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CB0B-EC8A-BACF-ED50-921BAA1B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tx1"/>
                </a:solidFill>
              </a:rPr>
              <a:t>Lectured by Mr. Henry Mkama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79EA-6CA7-EF8D-C8D6-8FAE97CB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E690B-02CC-C6BF-4DE3-94AA07FB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2" y="0"/>
            <a:ext cx="1952488" cy="996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78BFF2-88F9-D2BD-440F-589A96E66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74"/>
            <a:ext cx="1508760" cy="99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6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8F4C-5EE5-C103-C3EE-E565B28F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32" y="816636"/>
            <a:ext cx="8596668" cy="938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Representation of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44411-73E9-6865-BF26-8B36094D3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84243"/>
                <a:ext cx="10837332" cy="45571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Rule Method or Set Builder Form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 this form, all elements of a set possess a single common property p(x), which is not possessed by any other element outside the set.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 such a case, the set is described by {x: p(x) holds},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E.g., in the set ‘{a, e, </a:t>
                </a:r>
                <a:r>
                  <a:rPr lang="en-US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o, u}’  all the elements possess a common property, each of them is a vowel of the English alphabet and no other letter possesses this property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denote the set of vowels by V, then we write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𝑣𝑜𝑤𝑒𝑙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𝐸𝑛𝑔𝑙𝑖𝑠h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𝑎𝑙𝑝h𝑎𝑏𝑒𝑡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romanLcPeriod"/>
                </a:pP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romanLcPeriod"/>
                </a:pPr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44411-73E9-6865-BF26-8B36094D3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84243"/>
                <a:ext cx="10837332" cy="4557120"/>
              </a:xfrm>
              <a:blipFill>
                <a:blip r:embed="rId2"/>
                <a:stretch>
                  <a:fillRect l="-844" t="-1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1CE8-E978-19F0-1162-FAF9DFE4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50442" y="6041362"/>
            <a:ext cx="1064224" cy="365125"/>
          </a:xfrm>
        </p:spPr>
        <p:txBody>
          <a:bodyPr/>
          <a:lstStyle/>
          <a:p>
            <a:fld id="{7072C1DE-BDFD-4CA7-A4E5-F50E7CADE0DD}" type="datetime1">
              <a:rPr lang="en-US" sz="1100" smtClean="0">
                <a:solidFill>
                  <a:schemeClr val="tx1"/>
                </a:solidFill>
              </a:rPr>
              <a:t>4/10/2026</a:t>
            </a:fld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CB0B-EC8A-BACF-ED50-921BAA1B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tx1"/>
                </a:solidFill>
              </a:rPr>
              <a:t>Lectured by Mr. Henry Mkama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79EA-6CA7-EF8D-C8D6-8FAE97CB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E690B-02CC-C6BF-4DE3-94AA07FB7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2" y="0"/>
            <a:ext cx="1952488" cy="996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78BFF2-88F9-D2BD-440F-589A96E66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74"/>
            <a:ext cx="1508760" cy="99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68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8F4C-5EE5-C103-C3EE-E565B28F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32" y="816636"/>
            <a:ext cx="8596668" cy="938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Representation of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44411-73E9-6865-BF26-8B36094D3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84243"/>
                <a:ext cx="10837332" cy="4557120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Some other examples are as follows:</a:t>
                </a:r>
              </a:p>
              <a:p>
                <a:pPr marL="0" indent="0">
                  <a:buNone/>
                </a:pPr>
                <a:r>
                  <a:rPr lang="en-US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Set of all natural numbers less than 5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&lt;5}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ii. Set of all integers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iii. Set of months having 31 days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𝑚𝑜𝑛𝑡h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𝑦𝑒𝑎𝑟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h𝑎𝑣𝑖𝑛𝑔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31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𝑑𝑎𝑦𝑠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romanLcPeriod"/>
                </a:pP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romanLcPeriod"/>
                </a:pPr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44411-73E9-6865-BF26-8B36094D3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84243"/>
                <a:ext cx="10837332" cy="4557120"/>
              </a:xfrm>
              <a:blipFill>
                <a:blip r:embed="rId2"/>
                <a:stretch>
                  <a:fillRect l="-844" t="-1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1CE8-E978-19F0-1162-FAF9DFE4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50442" y="6041362"/>
            <a:ext cx="1064224" cy="365125"/>
          </a:xfrm>
        </p:spPr>
        <p:txBody>
          <a:bodyPr/>
          <a:lstStyle/>
          <a:p>
            <a:fld id="{7072C1DE-BDFD-4CA7-A4E5-F50E7CADE0DD}" type="datetime1">
              <a:rPr lang="en-US" sz="1100" smtClean="0">
                <a:solidFill>
                  <a:schemeClr val="tx1"/>
                </a:solidFill>
              </a:rPr>
              <a:t>4/10/2026</a:t>
            </a:fld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CB0B-EC8A-BACF-ED50-921BAA1B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tx1"/>
                </a:solidFill>
              </a:rPr>
              <a:t>Lectured by Mr. Henry Mkama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79EA-6CA7-EF8D-C8D6-8FAE97CB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E690B-02CC-C6BF-4DE3-94AA07FB7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2" y="0"/>
            <a:ext cx="1952488" cy="996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CD4047-1D10-05CD-E27B-15ECC19B1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74"/>
            <a:ext cx="1508760" cy="99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6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BD0F-8392-EE5F-9891-42139F97C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226321" cy="4904935"/>
          </a:xfrm>
        </p:spPr>
        <p:txBody>
          <a:bodyPr/>
          <a:lstStyle/>
          <a:p>
            <a:pPr algn="ctr"/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DEFE0-D0E6-8906-12B2-E0BFA9C8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C4DE-BBAE-4CE5-A073-C0DA2D3929AC}" type="datetime1">
              <a:rPr lang="en-US" sz="1100" smtClean="0">
                <a:solidFill>
                  <a:schemeClr val="tx1"/>
                </a:solidFill>
              </a:rPr>
              <a:t>4/10/2026</a:t>
            </a:fld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A795-2174-9648-4630-1B29EDBA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tx1"/>
                </a:solidFill>
              </a:rPr>
              <a:t>Lectured by Mr. Henry Mkama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6153F-69BB-8F0F-8AE8-FE5B3236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ED82C7-2EF8-7067-A802-8FC1093C0FD6}"/>
              </a:ext>
            </a:extLst>
          </p:cNvPr>
          <p:cNvSpPr/>
          <p:nvPr/>
        </p:nvSpPr>
        <p:spPr>
          <a:xfrm>
            <a:off x="3271522" y="2600402"/>
            <a:ext cx="42421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YOU:</a:t>
            </a:r>
          </a:p>
        </p:txBody>
      </p:sp>
    </p:spTree>
    <p:extLst>
      <p:ext uri="{BB962C8B-B14F-4D97-AF65-F5344CB8AC3E}">
        <p14:creationId xmlns:p14="http://schemas.microsoft.com/office/powerpoint/2010/main" val="13819302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1961</TotalTime>
  <Words>740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 Math</vt:lpstr>
      <vt:lpstr>Times New Roman</vt:lpstr>
      <vt:lpstr>Trebuchet MS</vt:lpstr>
      <vt:lpstr>Wingdings</vt:lpstr>
      <vt:lpstr>Wingdings 3</vt:lpstr>
      <vt:lpstr>Facet</vt:lpstr>
      <vt:lpstr>IS 042: FOUNDATION OF COMPUTING MATHEMATICS II LECTURE 01</vt:lpstr>
      <vt:lpstr>Unit I: Set Theory</vt:lpstr>
      <vt:lpstr>1.1 Introduction to Sets</vt:lpstr>
      <vt:lpstr>The Basis of Intuitive Set Theory</vt:lpstr>
      <vt:lpstr>Representation of Sets</vt:lpstr>
      <vt:lpstr>Representation of Sets</vt:lpstr>
      <vt:lpstr>Representation of Sets</vt:lpstr>
      <vt:lpstr>Representation of Sets</vt:lpstr>
      <vt:lpstr>Representation of Sets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041: FOUNDATION OF COMPUTING MATHEMATICS I LECTURE 00</dc:title>
  <dc:creator>Henry Mkama</dc:creator>
  <cp:lastModifiedBy>Henry Mkama</cp:lastModifiedBy>
  <cp:revision>215</cp:revision>
  <dcterms:created xsi:type="dcterms:W3CDTF">2023-11-06T19:21:33Z</dcterms:created>
  <dcterms:modified xsi:type="dcterms:W3CDTF">2026-04-10T13:11:27Z</dcterms:modified>
</cp:coreProperties>
</file>